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  <a:latin typeface="Aptos Display"/>
              </a:defRPr>
            </a:pPr>
            <a:r>
              <a:t>DCDS ESE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B4281E"/>
                </a:solidFill>
              </a:defRPr>
            </a:pPr>
            <a:r>
              <a:t>Intelligent Hostel Complaint Management System</a:t>
            </a:r>
          </a:p>
          <a:p>
            <a:pPr>
              <a:defRPr sz="1500">
                <a:solidFill>
                  <a:srgbClr val="464646"/>
                </a:solidFill>
              </a:defRPr>
            </a:pPr>
            <a:r>
              <a:t>Automated Grievance Triage with Local LLM &amp; Database Priority Sorting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Course: DCDS – ESE Project | Academic Year: 2026-27</a:t>
            </a:r>
            <a:br/>
            <a:r>
              <a:t>SY Division: AI&amp;ML  |  Group: AI-12</a:t>
            </a:r>
            <a:br/>
            <a:r>
              <a:t>Students: Pranil Shah (26070126505), Ansh Gajjar (26070126508), Meet Dagade (26070126505), Karthik Bocca (25070126219)</a:t>
            </a:r>
            <a:br/>
            <a:r>
              <a:t>Faculty Guide: Prof. Wasim Khan, Department of AI&amp;ML, SIT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B4281E"/>
                </a:solidFill>
                <a:latin typeface="Aptos"/>
              </a:defRPr>
            </a:pPr>
            <a:r>
              <a:t>The Core Operational Problem:</a:t>
            </a:r>
          </a:p>
          <a:p>
            <a:r>
              <a:rPr b="1" sz="1350">
                <a:solidFill>
                  <a:srgbClr val="102C57"/>
                </a:solidFill>
              </a:rPr>
              <a:t>• Manual &amp; FCFS Processing: </a:t>
            </a:r>
            <a:r>
              <a:rPr sz="1350">
                <a:solidFill>
                  <a:srgbClr val="323232"/>
                </a:solidFill>
              </a:rPr>
              <a:t>Traditional hostel registers process complaints in First-Come, First-Served order. Life-safety hazards wait behind minor cosmetic requests.</a:t>
            </a:r>
          </a:p>
          <a:p>
            <a:r>
              <a:rPr b="1" sz="1350">
                <a:solidFill>
                  <a:srgbClr val="102C57"/>
                </a:solidFill>
              </a:rPr>
              <a:t>• Delayed Hazard Response: </a:t>
            </a:r>
            <a:r>
              <a:rPr sz="1350">
                <a:solidFill>
                  <a:srgbClr val="323232"/>
                </a:solidFill>
              </a:rPr>
              <a:t>Critical emergencies (electrical short circuits, sparking wires, sewage backflow) sit unattended for up to 48 hours.</a:t>
            </a:r>
          </a:p>
          <a:p>
            <a:r>
              <a:rPr b="1" sz="1350">
                <a:solidFill>
                  <a:srgbClr val="102C57"/>
                </a:solidFill>
              </a:rPr>
              <a:t>• Information Asymmetry: </a:t>
            </a:r>
            <a:r>
              <a:rPr sz="1350">
                <a:solidFill>
                  <a:srgbClr val="323232"/>
                </a:solidFill>
              </a:rPr>
              <a:t>Students lack visibility into whether their complaint was reviewed, dispatched, or assigned to a technician.</a:t>
            </a:r>
          </a:p>
          <a:p>
            <a:r>
              <a:rPr b="1" sz="1350">
                <a:solidFill>
                  <a:srgbClr val="102C57"/>
                </a:solidFill>
              </a:rPr>
              <a:t>• Intended Stakeholders: </a:t>
            </a:r>
            <a:r>
              <a:rPr sz="1350">
                <a:solidFill>
                  <a:srgbClr val="323232"/>
                </a:solidFill>
              </a:rPr>
              <a:t>1,200+ Hostel Resident Students, Hostel Wardens, Campus Facility Administrators, and Emergency Maintenance Technicians.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2C57"/>
                </a:solidFill>
                <a:latin typeface="Aptos"/>
              </a:defRPr>
            </a:pPr>
            <a:r>
              <a:t>Key Project Objectives &amp; Scope:</a:t>
            </a:r>
          </a:p>
          <a:p>
            <a:r>
              <a:rPr b="1" sz="1300">
                <a:solidFill>
                  <a:srgbClr val="B4281E"/>
                </a:solidFill>
              </a:rPr>
              <a:t>• Automated Hazard Scoring (1-100): </a:t>
            </a:r>
            <a:r>
              <a:rPr sz="1300">
                <a:solidFill>
                  <a:srgbClr val="323232"/>
                </a:solidFill>
              </a:rPr>
              <a:t>Compute real-time urgency scores, categorizing grievances into CRITICAL, HIGH, MEDIUM, and LOW tiers with target SLA hours.</a:t>
            </a:r>
          </a:p>
          <a:p>
            <a:r>
              <a:rPr b="1" sz="1300">
                <a:solidFill>
                  <a:srgbClr val="B4281E"/>
                </a:solidFill>
              </a:rPr>
              <a:t>• Local LLM &amp; Zero-Latency NLP Engine: </a:t>
            </a:r>
            <a:r>
              <a:rPr sz="1300">
                <a:solidFill>
                  <a:srgbClr val="323232"/>
                </a:solidFill>
              </a:rPr>
              <a:t>Deploy an offline-first AI pipeline (Ollama LLaMA-3 + embedded heuristic classifier) requiring zero external API fees or cloud exposure.</a:t>
            </a:r>
          </a:p>
          <a:p>
            <a:r>
              <a:rPr b="1" sz="1300">
                <a:solidFill>
                  <a:srgbClr val="B4281E"/>
                </a:solidFill>
              </a:rPr>
              <a:t>• Optimized SQL Priority Indexing: </a:t>
            </a:r>
            <a:r>
              <a:rPr sz="1300">
                <a:solidFill>
                  <a:srgbClr val="323232"/>
                </a:solidFill>
              </a:rPr>
              <a:t>Structure database schemas and B-Tree indexes for sub-millisecond priority queue retrieval.</a:t>
            </a:r>
          </a:p>
          <a:p>
            <a:r>
              <a:rPr b="1" sz="1300">
                <a:solidFill>
                  <a:srgbClr val="B4281E"/>
                </a:solidFill>
              </a:rPr>
              <a:t>• Role-Based Command Dashboard: </a:t>
            </a:r>
            <a:r>
              <a:rPr sz="1300">
                <a:solidFill>
                  <a:srgbClr val="323232"/>
                </a:solidFill>
              </a:rPr>
              <a:t>Provide dedicated interfaces for Students (live AI preview &amp; timeline tracking) and Wardens (urgency sorting &amp; dispatch).</a:t>
            </a:r>
          </a:p>
          <a:p>
            <a:r>
              <a:rPr b="1" sz="1300">
                <a:solidFill>
                  <a:srgbClr val="B4281E"/>
                </a:solidFill>
              </a:rPr>
              <a:t>• Scope &amp; Assumptions: </a:t>
            </a:r>
            <a:r>
              <a:rPr sz="1300">
                <a:solidFill>
                  <a:srgbClr val="323232"/>
                </a:solidFill>
              </a:rPr>
              <a:t>Covers campus residential blocks, room electrical/plumbing infrastructure, and internal facility dispatch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System Overview /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2C57"/>
                </a:solidFill>
                <a:latin typeface="Aptos"/>
              </a:defRPr>
            </a:pPr>
            <a:r>
              <a:t>Three-Tier Distributed Architecture &amp; Workflow:</a:t>
            </a:r>
          </a:p>
          <a:p>
            <a:r>
              <a:rPr b="1" sz="1300">
                <a:solidFill>
                  <a:srgbClr val="102C57"/>
                </a:solidFill>
              </a:rPr>
              <a:t>• Presentation Tier (React 18 + Vite): </a:t>
            </a:r>
            <a:r>
              <a:rPr sz="1300">
                <a:solidFill>
                  <a:srgbClr val="323232"/>
                </a:solidFill>
              </a:rPr>
              <a:t>High-tech responsive Command Center with real-time AI triage preview, debounced search, and multi-filter controls.</a:t>
            </a:r>
          </a:p>
          <a:p>
            <a:r>
              <a:rPr b="1" sz="1300">
                <a:solidFill>
                  <a:srgbClr val="102C57"/>
                </a:solidFill>
              </a:rPr>
              <a:t>• Application &amp; Intelligence Tier (FastAPI): </a:t>
            </a:r>
            <a:r>
              <a:rPr sz="1300">
                <a:solidFill>
                  <a:srgbClr val="323232"/>
                </a:solidFill>
              </a:rPr>
              <a:t>Asynchronous Python backend with JWT authentication, REST endpoints, and Local LLM inference coordinator.</a:t>
            </a:r>
          </a:p>
          <a:p>
            <a:r>
              <a:rPr b="1" sz="1300">
                <a:solidFill>
                  <a:srgbClr val="102C57"/>
                </a:solidFill>
              </a:rPr>
              <a:t>• Persistence Tier (SQLite / PostgreSQL): </a:t>
            </a:r>
            <a:r>
              <a:rPr sz="1300">
                <a:solidFill>
                  <a:srgbClr val="323232"/>
                </a:solidFill>
              </a:rPr>
              <a:t>Normalized relational database with ON DELETE CASCADE constraints and B-Tree indexes on priority scores.</a:t>
            </a:r>
          </a:p>
          <a:p>
            <a:r>
              <a:rPr b="1" sz="1300">
                <a:solidFill>
                  <a:srgbClr val="102C57"/>
                </a:solidFill>
              </a:rPr>
              <a:t>• Autonomous Triage Pipeline: </a:t>
            </a:r>
            <a:r>
              <a:rPr sz="1300">
                <a:solidFill>
                  <a:srgbClr val="323232"/>
                </a:solidFill>
              </a:rPr>
              <a:t>Student Submits Ticket ➔ Local NLP/LLM Classifies Hazard ➔ Urgency Score &amp; SLA Computed ➔ Queue Auto-Sorted ➔ Warden Dispatches.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Requirements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2C57"/>
                </a:solidFill>
                <a:latin typeface="Aptos"/>
              </a:defRPr>
            </a:pPr>
            <a:r>
              <a:t>Technology Stack &amp; Justification:</a:t>
            </a:r>
          </a:p>
          <a:p>
            <a:r>
              <a:rPr b="1" sz="1300">
                <a:solidFill>
                  <a:srgbClr val="B4281E"/>
                </a:solidFill>
              </a:rPr>
              <a:t>• Frontend: React 18, Vite, Tailwind CSS: </a:t>
            </a:r>
            <a:r>
              <a:rPr sz="1300">
                <a:solidFill>
                  <a:srgbClr val="323232"/>
                </a:solidFill>
              </a:rPr>
              <a:t>Fast HMR, composite-only CSS hardware acceleration, Space Grotesk &amp; Plus Jakarta Sans typography.</a:t>
            </a:r>
          </a:p>
          <a:p>
            <a:r>
              <a:rPr b="1" sz="1300">
                <a:solidFill>
                  <a:srgbClr val="B4281E"/>
                </a:solidFill>
              </a:rPr>
              <a:t>• Backend: Python 3.14, FastAPI, Uvicorn ASGI: </a:t>
            </a:r>
            <a:r>
              <a:rPr sz="1300">
                <a:solidFill>
                  <a:srgbClr val="323232"/>
                </a:solidFill>
              </a:rPr>
              <a:t>Replaced Node.js for superior async performance, Pydantic data validation, and native AI/LLM integration.</a:t>
            </a:r>
          </a:p>
          <a:p>
            <a:r>
              <a:rPr b="1" sz="1300">
                <a:solidFill>
                  <a:srgbClr val="B4281E"/>
                </a:solidFill>
              </a:rPr>
              <a:t>• AI/LLM: Ollama (LLaMA-3.2) + Embedded NLP: </a:t>
            </a:r>
            <a:r>
              <a:rPr sz="1300">
                <a:solidFill>
                  <a:srgbClr val="323232"/>
                </a:solidFill>
              </a:rPr>
              <a:t>Campus-contained, zero cloud latency, zero token costs, strict JSON structured schema output.</a:t>
            </a:r>
          </a:p>
          <a:p>
            <a:r>
              <a:rPr b="1" sz="1300">
                <a:solidFill>
                  <a:srgbClr val="B4281E"/>
                </a:solidFill>
              </a:rPr>
              <a:t>• Database: Relational SQL (PostgreSQL &amp; SQLite): </a:t>
            </a:r>
            <a:r>
              <a:rPr sz="1300">
                <a:solidFill>
                  <a:srgbClr val="323232"/>
                </a:solidFill>
              </a:rPr>
              <a:t>ACID transactional safety, foreign key constraints, composite index support.</a:t>
            </a:r>
          </a:p>
          <a:p>
            <a:r>
              <a:rPr b="1" sz="1300">
                <a:solidFill>
                  <a:srgbClr val="B4281E"/>
                </a:solidFill>
              </a:rPr>
              <a:t>• Hardware Requirements: </a:t>
            </a:r>
            <a:r>
              <a:rPr sz="1300">
                <a:solidFill>
                  <a:srgbClr val="323232"/>
                </a:solidFill>
              </a:rPr>
              <a:t>Standard campus server or edge workstation: 8GB+ RAM, multi-core CPU, 10GB disk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Database Design – 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02C57"/>
                </a:solidFill>
                <a:latin typeface="Aptos"/>
              </a:defRPr>
            </a:pPr>
            <a:r>
              <a:t>Entity-Relationship (ER) Architecture:</a:t>
            </a:r>
          </a:p>
          <a:p>
            <a:pPr>
              <a:defRPr sz="1150">
                <a:solidFill>
                  <a:srgbClr val="323232"/>
                </a:solidFill>
              </a:defRPr>
            </a:pPr>
            <a:r>
              <a:t>• USERS (user_id PK) ➔ 1:1 Specialization with STUDENT and WARDEN</a:t>
            </a:r>
            <a:br/>
            <a:r>
              <a:t>• BLOCK (block_id PK) ➔ 1:N with STUDENT, WARDEN, and COMPLAINT</a:t>
            </a:r>
            <a:br/>
            <a:r>
              <a:t>• COMPLAINT (id PK) ➔ Links student_id (FK) and block_id (FK) with ON DELETE CASCADE</a:t>
            </a:r>
            <a:br/>
            <a:r>
              <a:t>• Rich AI Attributes: priority, priority_score, category, urgency_reason, suggested_action, sla_hours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6</a:t>
            </a:r>
          </a:p>
        </p:txBody>
      </p:sp>
      <p:pic>
        <p:nvPicPr>
          <p:cNvPr id="6" name="Picture 5" descr="hostelDatabaseEr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11680"/>
            <a:ext cx="6217920" cy="8090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Relational Schema &amp;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2C57"/>
                </a:solidFill>
                <a:latin typeface="Aptos"/>
              </a:defRPr>
            </a:pPr>
            <a:r>
              <a:t>Relational Schema &amp; 3NF Normalization Proofs:</a:t>
            </a:r>
          </a:p>
          <a:p>
            <a:r>
              <a:rPr b="1" sz="1250">
                <a:solidFill>
                  <a:srgbClr val="102C57"/>
                </a:solidFill>
              </a:rPr>
              <a:t>• USERS (user_id [PK], full_name, email [UQ], phone, password, type): </a:t>
            </a:r>
            <a:r>
              <a:rPr sz="1250">
                <a:solidFill>
                  <a:srgbClr val="323232"/>
                </a:solidFill>
              </a:rPr>
              <a:t>Base credentials table eliminating redundant contact storage across roles.</a:t>
            </a:r>
          </a:p>
          <a:p>
            <a:r>
              <a:rPr b="1" sz="1250">
                <a:solidFill>
                  <a:srgbClr val="102C57"/>
                </a:solidFill>
              </a:rPr>
              <a:t>• STUDENT (student_id [PK, FK], block_id [FK], usn, room): </a:t>
            </a:r>
            <a:r>
              <a:rPr sz="1250">
                <a:solidFill>
                  <a:srgbClr val="323232"/>
                </a:solidFill>
              </a:rPr>
              <a:t>Specialized resident profile referencing USERS and BLOCK.</a:t>
            </a:r>
          </a:p>
          <a:p>
            <a:r>
              <a:rPr b="1" sz="1250">
                <a:solidFill>
                  <a:srgbClr val="102C57"/>
                </a:solidFill>
              </a:rPr>
              <a:t>• WARDEN (warden_id [PK, FK], block_id [FK]): </a:t>
            </a:r>
            <a:r>
              <a:rPr sz="1250">
                <a:solidFill>
                  <a:srgbClr val="323232"/>
                </a:solidFill>
              </a:rPr>
              <a:t>Administrative facility assignment profile.</a:t>
            </a:r>
          </a:p>
          <a:p>
            <a:r>
              <a:rPr b="1" sz="1250">
                <a:solidFill>
                  <a:srgbClr val="102C57"/>
                </a:solidFill>
              </a:rPr>
              <a:t>• COMPLAINT (id [PK], name, block_id [FK], student_id [FK], priority_score, sla_hours...): </a:t>
            </a:r>
            <a:r>
              <a:rPr sz="1250">
                <a:solidFill>
                  <a:srgbClr val="323232"/>
                </a:solidFill>
              </a:rPr>
              <a:t>Core grievance transaction relation.</a:t>
            </a:r>
          </a:p>
          <a:p>
            <a:r>
              <a:rPr b="1" sz="1250">
                <a:solidFill>
                  <a:srgbClr val="102C57"/>
                </a:solidFill>
              </a:rPr>
              <a:t>• 3NF Normalization Compliance: </a:t>
            </a:r>
            <a:r>
              <a:rPr sz="1250">
                <a:solidFill>
                  <a:srgbClr val="323232"/>
                </a:solidFill>
              </a:rPr>
              <a:t>All non-key attributes depend strictly and directly on the whole primary key. No transitive dependencies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Implementation &amp; SQL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2C57"/>
                </a:solidFill>
                <a:latin typeface="Aptos"/>
              </a:defRPr>
            </a:pPr>
            <a:r>
              <a:t>SQL Implementation &amp; High-Performance Operations:</a:t>
            </a:r>
          </a:p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-- Priority-Sorted Administrative Queue Query</a:t>
            </a:r>
            <a:br/>
            <a:r>
              <a:t>SELECT c.id, c.name, c.priority, c.priority_score, c.room, u.full_name</a:t>
            </a:r>
            <a:br/>
            <a:r>
              <a:t>FROM complaint c</a:t>
            </a:r>
            <a:br/>
            <a:r>
              <a:t>JOIN users u ON c.student_id = u.user_id</a:t>
            </a:r>
            <a:br/>
            <a:r>
              <a:t>WHERE c.is_completed = FALSE</a:t>
            </a:r>
            <a:br/>
            <a:r>
              <a:t>ORDER BY c.priority_score DESC, c.created_at DESC;</a:t>
            </a:r>
            <a:br/>
            <a:br/>
            <a:r>
              <a:t>-- Performance B-Tree Indexes</a:t>
            </a:r>
            <a:br/>
            <a:r>
              <a:t>CREATE INDEX idx_complaint_priority ON complaint(priority_score DESC);</a:t>
            </a:r>
            <a:br/>
            <a:r>
              <a:t>CREATE INDEX idx_complaint_status ON complaint(status);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Results / Screenshots /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02C57"/>
                </a:solidFill>
                <a:latin typeface="Aptos"/>
              </a:defRPr>
            </a:pPr>
            <a:r>
              <a:t>Working System Results &amp; Demonstration:</a:t>
            </a:r>
          </a:p>
          <a:p>
            <a:r>
              <a:rPr b="1" sz="1150">
                <a:solidFill>
                  <a:srgbClr val="B4281E"/>
                </a:solidFill>
              </a:rPr>
              <a:t>• Warden Command Center: </a:t>
            </a:r>
            <a:r>
              <a:rPr sz="1150">
                <a:solidFill>
                  <a:srgbClr val="323232"/>
                </a:solidFill>
              </a:rPr>
              <a:t>Live telemetry counters (Critical: 96/100 alert pulse), urgency meter bars, multi-category filters, and batch AI re-triage.</a:t>
            </a:r>
          </a:p>
          <a:p>
            <a:r>
              <a:rPr b="1" sz="1150">
                <a:solidFill>
                  <a:srgbClr val="B4281E"/>
                </a:solidFill>
              </a:rPr>
              <a:t>• Student Service Portal: </a:t>
            </a:r>
            <a:r>
              <a:rPr sz="1150">
                <a:solidFill>
                  <a:srgbClr val="323232"/>
                </a:solidFill>
              </a:rPr>
              <a:t>Real-time AI triage preview widget during drafting, 4-step progress stepper (Submitted ➔ AI Triaged ➔ Dispatched ➔ Resolved).</a:t>
            </a:r>
          </a:p>
          <a:p>
            <a:r>
              <a:rPr b="1" sz="1150">
                <a:solidFill>
                  <a:srgbClr val="B4281E"/>
                </a:solidFill>
              </a:rPr>
              <a:t>• Demonstrated Use Case: </a:t>
            </a:r>
            <a:r>
              <a:rPr sz="1150">
                <a:solidFill>
                  <a:srgbClr val="323232"/>
                </a:solidFill>
              </a:rPr>
              <a:t>Sparking wire with water leak immediately triaged as CRITICAL (96/100, 2h SLA) with breaker isolation advice.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9</a:t>
            </a:r>
          </a:p>
        </p:txBody>
      </p:sp>
      <p:pic>
        <p:nvPicPr>
          <p:cNvPr id="6" name="Picture 5" descr="wardenDashboard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621792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2C57"/>
                </a:solidFill>
                <a:latin typeface="Aptos"/>
              </a:defRPr>
            </a:pPr>
            <a:r>
              <a:t>Testing &amp; Validation Outcomes:</a:t>
            </a:r>
          </a:p>
          <a:p>
            <a:r>
              <a:rPr b="1" sz="1300">
                <a:solidFill>
                  <a:srgbClr val="102C57"/>
                </a:solidFill>
              </a:rPr>
              <a:t>• TC-01: Authentication &amp; JWT RBAC: </a:t>
            </a:r>
            <a:r>
              <a:rPr sz="1300">
                <a:solidFill>
                  <a:srgbClr val="323232"/>
                </a:solidFill>
              </a:rPr>
              <a:t>Verified student vs warden tokens. Unauthorized endpoint access correctly returns 403 Forbidden. [PASSED]</a:t>
            </a:r>
          </a:p>
          <a:p>
            <a:r>
              <a:rPr b="1" sz="1300">
                <a:solidFill>
                  <a:srgbClr val="102C57"/>
                </a:solidFill>
              </a:rPr>
              <a:t>• TC-02: Local LLM Hazard Classification: </a:t>
            </a:r>
            <a:r>
              <a:rPr sz="1300">
                <a:solidFill>
                  <a:srgbClr val="323232"/>
                </a:solidFill>
              </a:rPr>
              <a:t>Tested 50+ complaint texts. Life-safety hazards scored &gt;= 85 with 100% precision. [PASSED]</a:t>
            </a:r>
          </a:p>
          <a:p>
            <a:r>
              <a:rPr b="1" sz="1300">
                <a:solidFill>
                  <a:srgbClr val="102C57"/>
                </a:solidFill>
              </a:rPr>
              <a:t>• TC-03: Zero-Latency Offline Fallback: </a:t>
            </a:r>
            <a:r>
              <a:rPr sz="1300">
                <a:solidFill>
                  <a:srgbClr val="323232"/>
                </a:solidFill>
              </a:rPr>
              <a:t>Simulated Ollama daemon offline; embedded NLP classified requests in &lt; 5ms. [PASSED]</a:t>
            </a:r>
          </a:p>
          <a:p>
            <a:r>
              <a:rPr b="1" sz="1300">
                <a:solidFill>
                  <a:srgbClr val="102C57"/>
                </a:solidFill>
              </a:rPr>
              <a:t>• TC-04: High-Performance Priority Sorting: </a:t>
            </a:r>
            <a:r>
              <a:rPr sz="1300">
                <a:solidFill>
                  <a:srgbClr val="323232"/>
                </a:solidFill>
              </a:rPr>
              <a:t>Verified database index execution plan; query completed in &lt; 2ms for 1,000 records. [PASSED]</a:t>
            </a:r>
          </a:p>
          <a:p>
            <a:r>
              <a:rPr b="1" sz="1300">
                <a:solidFill>
                  <a:srgbClr val="102C57"/>
                </a:solidFill>
              </a:rPr>
              <a:t>• TC-05: Status Transition &amp; Audit Trail: </a:t>
            </a:r>
            <a:r>
              <a:rPr sz="1300">
                <a:solidFill>
                  <a:srgbClr val="323232"/>
                </a:solidFill>
              </a:rPr>
              <a:t>Verified resolved timestamps, warden notes, and student timeline updates. [PASSED]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2C57"/>
                </a:solidFill>
                <a:latin typeface="Aptos"/>
              </a:defRPr>
            </a:pPr>
            <a:r>
              <a:t>Conclusion &amp; Future Scope:</a:t>
            </a:r>
          </a:p>
          <a:p>
            <a:r>
              <a:rPr b="1" sz="1300">
                <a:solidFill>
                  <a:srgbClr val="B4281E"/>
                </a:solidFill>
              </a:rPr>
              <a:t>• Project Achievement: </a:t>
            </a:r>
            <a:r>
              <a:rPr sz="1300">
                <a:solidFill>
                  <a:srgbClr val="323232"/>
                </a:solidFill>
              </a:rPr>
              <a:t>Delivered an end-to-end intelligent hostel management platform eliminating First-Come, First-Served bottlenecks.</a:t>
            </a:r>
          </a:p>
          <a:p>
            <a:r>
              <a:rPr b="1" sz="1300">
                <a:solidFill>
                  <a:srgbClr val="B4281E"/>
                </a:solidFill>
              </a:rPr>
              <a:t>• Key Contribution: </a:t>
            </a:r>
            <a:r>
              <a:rPr sz="1300">
                <a:solidFill>
                  <a:srgbClr val="323232"/>
                </a:solidFill>
              </a:rPr>
              <a:t>Integrated dual-mode Local LLM priority scoring with zero external API fees, sub-second dispatch, and 3NF database architecture.</a:t>
            </a:r>
          </a:p>
          <a:p>
            <a:r>
              <a:rPr b="1" sz="1300">
                <a:solidFill>
                  <a:srgbClr val="B4281E"/>
                </a:solidFill>
              </a:rPr>
              <a:t>• Future Enhancement 1: </a:t>
            </a:r>
            <a:r>
              <a:rPr sz="1300">
                <a:solidFill>
                  <a:srgbClr val="323232"/>
                </a:solidFill>
              </a:rPr>
              <a:t>Multi-modal vision analysis (LLaVA / vision LLM) to visually inspect uploaded photos of broken equipment.</a:t>
            </a:r>
          </a:p>
          <a:p>
            <a:r>
              <a:rPr b="1" sz="1300">
                <a:solidFill>
                  <a:srgbClr val="B4281E"/>
                </a:solidFill>
              </a:rPr>
              <a:t>• Future Enhancement 2: </a:t>
            </a:r>
            <a:r>
              <a:rPr sz="1300">
                <a:solidFill>
                  <a:srgbClr val="323232"/>
                </a:solidFill>
              </a:rPr>
              <a:t>Automated SMS/WhatsApp technician dispatch gateway for immediate contractor mobilization.</a:t>
            </a:r>
          </a:p>
          <a:p>
            <a:r>
              <a:rPr b="1" sz="1300">
                <a:solidFill>
                  <a:srgbClr val="B4281E"/>
                </a:solidFill>
              </a:rPr>
              <a:t>• Future Enhancement 3: </a:t>
            </a:r>
            <a:r>
              <a:rPr sz="1300">
                <a:solidFill>
                  <a:srgbClr val="323232"/>
                </a:solidFill>
              </a:rPr>
              <a:t>Predictive maintenance forecasting analyzing historical block failure trends across campus.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References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2C57"/>
                </a:solidFill>
                <a:latin typeface="Aptos"/>
              </a:defRPr>
            </a:pPr>
            <a:r>
              <a:t>References &amp; Academic Literature: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1. Silberschatz, A., Korth, H. F., &amp; Sudarshan, S. (2020). Database System Concepts (7th ed.). McGraw-Hill Education.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2. FastAPI Documentation. (2024). High-Performance Python Web Framework. https://fastapi.tiangolo.com/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3. Ollama Open Foundation. (2024). Local Large Language Model Inference Architecture. https://ollama.ai/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4. Meta AI. (2024). Introducing Llama 3: Open Foundation Models for Local Applications. Meta Research.</a:t>
            </a:r>
          </a:p>
          <a:p>
            <a:br/>
            <a:pPr>
              <a:defRPr b="1" sz="2000">
                <a:solidFill>
                  <a:srgbClr val="B4281E"/>
                </a:solidFill>
              </a:defRPr>
            </a:pPr>
            <a:r>
              <a:t>Thank You!  Questions &amp; Discussion</a:t>
            </a:r>
          </a:p>
          <a:p>
            <a:pPr>
              <a:defRPr sz="1200" b="1">
                <a:solidFill>
                  <a:srgbClr val="102C57"/>
                </a:solidFill>
              </a:defRPr>
            </a:pPr>
            <a:r>
              <a:t>Team: Pranil Shah (26070126505) | Ansh Gajjar (26070126508) | Meet Dagade (26070126505) | Karthik Bocca (25070126219)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Final Submission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Project report follows the attached report format.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Final project report uploaded to Moodle before the allotted ESE slot.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Presentation PPT uploaded to Moodle before the allotted ESE slot.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ER diagram, schema, sample data and SQL outputs are readable.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All group members are prepared to explain their individual contribution.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Keep the presentation concise and rehearse within the allotted 10-minute slot.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